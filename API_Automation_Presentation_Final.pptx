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 (1 minute):</a:t>
            </a:r>
          </a:p>
          <a:p/>
          <a:p>
            <a:r>
              <a:t>Good morning/afternoon everyone. Today I'll be presenting our API Automation Framework that we've built for testing Boundary Management and Localization services.</a:t>
            </a:r>
          </a:p>
          <a:p/>
          <a:p>
            <a:r>
              <a:t>WHAT TO SAY:</a:t>
            </a:r>
          </a:p>
          <a:p>
            <a:r>
              <a:t>- "Thank you for joining me today"</a:t>
            </a:r>
          </a:p>
          <a:p>
            <a:r>
              <a:t>- "Over the past few weeks/months, we've developed a comprehensive automation framework"</a:t>
            </a:r>
          </a:p>
          <a:p>
            <a:r>
              <a:t>- "This framework has transformed how we test our boundary management system"</a:t>
            </a:r>
          </a:p>
          <a:p>
            <a:r>
              <a:t>- "I'll walk you through what we had before, what we've automated, and the significant benefits we're seeing"</a:t>
            </a:r>
          </a:p>
          <a:p>
            <a:r>
              <a:t>- "The presentation will take about 10 minutes, and I'm happy to take questions at the end"</a:t>
            </a:r>
          </a:p>
          <a:p/>
          <a:p>
            <a:r>
              <a:t>TONE: Confident and enthusiastic. Set the stage for the value this automation brings.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PROBLEMS BEFORE AUTOMATION (2-3 minutes):</a:t>
            </a:r>
          </a:p>
          <a:p/>
          <a:p>
            <a:r>
              <a:t>WHAT TO SAY:</a:t>
            </a:r>
          </a:p>
          <a:p>
            <a:r>
              <a:t>"Before we built this automation framework, our testing process had several significant challenges."</a:t>
            </a:r>
          </a:p>
          <a:p/>
          <a:p>
            <a:r>
              <a:t>PROBLEM 1 - TIME CONSUMING (30-45 seconds):</a:t>
            </a:r>
          </a:p>
          <a:p>
            <a:r>
              <a:t>- "Our boundary management system has 15 complex test scenarios"</a:t>
            </a:r>
          </a:p>
          <a:p>
            <a:r>
              <a:t>- "Each scenario involves multiple API calls - creating hierarchies, uploading files, processing data, and validating localization"</a:t>
            </a:r>
          </a:p>
          <a:p>
            <a:r>
              <a:t>- "Manually executing all 15 tests took 2-3 hours per cycle"</a:t>
            </a:r>
          </a:p>
          <a:p>
            <a:r>
              <a:t>- "Since we support 3 languages, we had to repeat tests for English, French, and Portuguese - essentially tripling our effort"</a:t>
            </a:r>
          </a:p>
          <a:p>
            <a:r>
              <a:t>- "This meant regression testing before each release took an entire day"</a:t>
            </a:r>
          </a:p>
          <a:p/>
          <a:p>
            <a:r>
              <a:t>PROBLEM 2 - HUMAN ERROR (30-45 seconds):</a:t>
            </a:r>
          </a:p>
          <a:p>
            <a:r>
              <a:t>- "Manual testing is prone to mistakes"</a:t>
            </a:r>
          </a:p>
          <a:p>
            <a:r>
              <a:t>- "We work with Excel files containing boundary data - manual data entry led to typos and formatting errors"</a:t>
            </a:r>
          </a:p>
          <a:p>
            <a:r>
              <a:t>- "Testers sometimes skipped steps or forgot to validate certain fields"</a:t>
            </a:r>
          </a:p>
          <a:p>
            <a:r>
              <a:t>- "This resulted in bugs slipping through to production"</a:t>
            </a:r>
          </a:p>
          <a:p/>
          <a:p>
            <a:r>
              <a:t>PROBLEM 3 - POOR COVERAGE &amp; REPORTING (45 seconds):</a:t>
            </a:r>
          </a:p>
          <a:p>
            <a:r>
              <a:t>- "Due to time constraints, we only tested critical happy paths"</a:t>
            </a:r>
          </a:p>
          <a:p>
            <a:r>
              <a:t>- "Edge cases and negative scenarios were often skipped"</a:t>
            </a:r>
          </a:p>
          <a:p>
            <a:r>
              <a:t>- "We had no standardized reporting - test results were tracked in spreadsheets"</a:t>
            </a:r>
          </a:p>
          <a:p>
            <a:r>
              <a:t>- "It was difficult to identify patterns or trends in failures"</a:t>
            </a:r>
          </a:p>
          <a:p>
            <a:r>
              <a:t>- "The complex workflow - create hierarchy, generate template, upload file, process data - made it hard to pinpoint where issues occurred"</a:t>
            </a:r>
          </a:p>
          <a:p/>
          <a:p>
            <a:r>
              <a:t>PROBLEM 4 - TEST DATA CONFLICTS (30 seconds):</a:t>
            </a:r>
          </a:p>
          <a:p>
            <a:r>
              <a:t>- "Multiple testers working in the same environment caused data collisions"</a:t>
            </a:r>
          </a:p>
          <a:p>
            <a:r>
              <a:t>- "One tester's data would interfere with another's tests"</a:t>
            </a:r>
          </a:p>
          <a:p>
            <a:r>
              <a:t>- "We had no systematic way to generate unique test data"</a:t>
            </a:r>
          </a:p>
          <a:p/>
          <a:p>
            <a:r>
              <a:t>TRANSITION:</a:t>
            </a:r>
          </a:p>
          <a:p>
            <a:r>
              <a:t>"These challenges were costing us time, reducing quality, and creating frustration for the team. That's why we decided to invest in automation."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WE AUTOMATED &amp; BENEFITS (3-4 minutes):</a:t>
            </a:r>
          </a:p>
          <a:p/>
          <a:p>
            <a:r>
              <a:t>WHAT TO SAY - AUTOMATION COVERAGE (1.5-2 minutes):</a:t>
            </a:r>
          </a:p>
          <a:p>
            <a:r>
              <a:t>"Let me walk you through what we've automated."</a:t>
            </a:r>
          </a:p>
          <a:p/>
          <a:p>
            <a:r>
              <a:t>END-TO-END WORKFLOW:</a:t>
            </a:r>
          </a:p>
          <a:p>
            <a:r>
              <a:t>- "We've automated 15 comprehensive test scenarios covering the entire boundary management lifecycle"</a:t>
            </a:r>
          </a:p>
          <a:p>
            <a:r>
              <a:t>- "This includes creating a 7-level boundary hierarchy - from Country down to Village level"</a:t>
            </a:r>
          </a:p>
          <a:p>
            <a:r>
              <a:t>- "We test multi-language localization across English, French, and Portuguese"</a:t>
            </a:r>
          </a:p>
          <a:p>
            <a:r>
              <a:t>- "The framework handles complex file operations - generating Excel templates from the server, downloading them, uploading populated data, and validating processed results"</a:t>
            </a:r>
          </a:p>
          <a:p>
            <a:r>
              <a:t>- "We test data processing, search queries, and boundary relationship validation"</a:t>
            </a:r>
          </a:p>
          <a:p/>
          <a:p>
            <a:r>
              <a:t>FRAMEWORK CAPABILITIES:</a:t>
            </a:r>
          </a:p>
          <a:p>
            <a:r>
              <a:t>- "The framework is data-driven - all test data is externalized in JSON files, making it easy to modify"</a:t>
            </a:r>
          </a:p>
          <a:p>
            <a:r>
              <a:t>- "It includes smart polling for asynchronous operations - waiting intelligently for server-side file generation to complete"</a:t>
            </a:r>
          </a:p>
          <a:p>
            <a:r>
              <a:t>- "We have cross-test data persistence - tests share IDs and data automatically through a tracking file"</a:t>
            </a:r>
          </a:p>
          <a:p>
            <a:r>
              <a:t>- "OAuth2 authentication is handled automatically"</a:t>
            </a:r>
          </a:p>
          <a:p>
            <a:r>
              <a:t>- "Each test run generates unique test data to prevent collisions, even when multiple testers run tests simultaneously"</a:t>
            </a:r>
          </a:p>
          <a:p/>
          <a:p>
            <a:r>
              <a:t>WHAT TO SAY - BENEFITS (1.5-2 minutes):</a:t>
            </a:r>
          </a:p>
          <a:p>
            <a:r>
              <a:t>"The benefits we're seeing are significant."</a:t>
            </a:r>
          </a:p>
          <a:p/>
          <a:p>
            <a:r>
              <a:t>TIME SAVINGS:</a:t>
            </a:r>
          </a:p>
          <a:p>
            <a:r>
              <a:t>- "The most obvious benefit - what took 2-3 hours manually now runs in 5 minutes"</a:t>
            </a:r>
          </a:p>
          <a:p>
            <a:r>
              <a:t>- "That's a 95% time savings"</a:t>
            </a:r>
          </a:p>
          <a:p>
            <a:r>
              <a:t>- "We can now run full regression tests multiple times per day instead of once per week"</a:t>
            </a:r>
          </a:p>
          <a:p/>
          <a:p>
            <a:r>
              <a:t>QUALITY IMPROVEMENTS:</a:t>
            </a:r>
          </a:p>
          <a:p>
            <a:r>
              <a:t>- "100% consistency - the tests run exactly the same way every time, eliminating human error"</a:t>
            </a:r>
          </a:p>
          <a:p>
            <a:r>
              <a:t>- "We've dramatically improved test coverage - we now test all scenarios including edge cases"</a:t>
            </a:r>
          </a:p>
          <a:p>
            <a:r>
              <a:t>- "Bugs are caught earlier in the development cycle, reducing production issues"</a:t>
            </a:r>
          </a:p>
          <a:p/>
          <a:p>
            <a:r>
              <a:t>REPORTING &amp; VISIBILITY:</a:t>
            </a:r>
          </a:p>
          <a:p>
            <a:r>
              <a:t>- "We generate comprehensive reports in HTML and Allure formats"</a:t>
            </a:r>
          </a:p>
          <a:p>
            <a:r>
              <a:t>- "Detailed logging captures every API request and response"</a:t>
            </a:r>
          </a:p>
          <a:p>
            <a:r>
              <a:t>- "This visibility helps us quickly identify and diagnose issues"</a:t>
            </a:r>
          </a:p>
          <a:p/>
          <a:p>
            <a:r>
              <a:t>TEAM IMPACT:</a:t>
            </a:r>
          </a:p>
          <a:p>
            <a:r>
              <a:t>- "Our QA team can now focus on exploratory testing and complex scenarios"</a:t>
            </a:r>
          </a:p>
          <a:p>
            <a:r>
              <a:t>- "We've integrated tests into our CI/CD pipeline for continuous testing"</a:t>
            </a:r>
          </a:p>
          <a:p>
            <a:r>
              <a:t>- "The framework supports multi-language testing automatically, ensuring our international users have a quality experience"</a:t>
            </a:r>
          </a:p>
          <a:p/>
          <a:p>
            <a:r>
              <a:t>TRANSITION:</a:t>
            </a:r>
          </a:p>
          <a:p>
            <a:r>
              <a:t>"A key enabler in building this framework quickly was leveraging Claude AI..."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AI BENEFITS &amp; CONCLUSION (2-3 minutes):</a:t>
            </a:r>
          </a:p>
          <a:p/>
          <a:p>
            <a:r>
              <a:t>WHAT TO SAY - CLAUDE AI BENEFITS (1.5-2 minutes):</a:t>
            </a:r>
          </a:p>
          <a:p>
            <a:r>
              <a:t>"I want to highlight how Claude AI was instrumental in building this framework quickly and efficiently."</a:t>
            </a:r>
          </a:p>
          <a:p/>
          <a:p>
            <a:r>
              <a:t>RAPID DEVELOPMENT:</a:t>
            </a:r>
          </a:p>
          <a:p>
            <a:r>
              <a:t>- "Typically, building a comprehensive automation framework like this would take weeks"</a:t>
            </a:r>
          </a:p>
          <a:p>
            <a:r>
              <a:t>- "With Claude AI as a development partner, we built it in days"</a:t>
            </a:r>
          </a:p>
          <a:p>
            <a:r>
              <a:t>- "Claude generated the initial boilerplate code, created utility modules, and set up the test structure"</a:t>
            </a:r>
          </a:p>
          <a:p>
            <a:r>
              <a:t>- "This allowed me to focus on business logic and test scenarios rather than infrastructure"</a:t>
            </a:r>
          </a:p>
          <a:p/>
          <a:p>
            <a:r>
              <a:t>INTELLIGENT CODE GENERATION:</a:t>
            </a:r>
          </a:p>
          <a:p>
            <a:r>
              <a:t>- "Claude created sophisticated components like our API client wrapper, authentication manager, and data loaders"</a:t>
            </a:r>
          </a:p>
          <a:p>
            <a:r>
              <a:t>- "These weren't just simple templates - they followed Python best practices and included error handling"</a:t>
            </a:r>
          </a:p>
          <a:p>
            <a:r>
              <a:t>- "The AI understood our requirements and generated production-quality code"</a:t>
            </a:r>
          </a:p>
          <a:p/>
          <a:p>
            <a:r>
              <a:t>COMPLEX LOGIC:</a:t>
            </a:r>
          </a:p>
          <a:p>
            <a:r>
              <a:t>- "Some of our requirements were complex - like smart polling that waits for asynchronous file generation"</a:t>
            </a:r>
          </a:p>
          <a:p>
            <a:r>
              <a:t>- "Claude helped implement the retry logic, timeout handling, and state management"</a:t>
            </a:r>
          </a:p>
          <a:p>
            <a:r>
              <a:t>- "File operations - downloading templates, merging Excel data, uploading - were all complex tasks that Claude helped streamline"</a:t>
            </a:r>
          </a:p>
          <a:p/>
          <a:p>
            <a:r>
              <a:t>LEARNING &amp; DEBUGGING:</a:t>
            </a:r>
          </a:p>
          <a:p>
            <a:r>
              <a:t>- "Claude acted as an on-demand tutor, explaining pytest features, Allure reporting integration, and Python libraries"</a:t>
            </a:r>
          </a:p>
          <a:p>
            <a:r>
              <a:t>- "When I encountered issues, Claude helped debug by analyzing error messages and suggesting fixes"</a:t>
            </a:r>
          </a:p>
          <a:p>
            <a:r>
              <a:t>- "It optimized code for better performance and readability"</a:t>
            </a:r>
          </a:p>
          <a:p/>
          <a:p>
            <a:r>
              <a:t>PRODUCTIVITY MULTIPLIER:</a:t>
            </a:r>
          </a:p>
          <a:p>
            <a:r>
              <a:t>- "Having an AI pair programmer dramatically accelerated development"</a:t>
            </a:r>
          </a:p>
          <a:p>
            <a:r>
              <a:t>- "I could iterate faster, try different approaches, and build features I might not have attempted alone"</a:t>
            </a:r>
          </a:p>
          <a:p>
            <a:r>
              <a:t>- "Claude handled the tedious parts so I could focus on the creative problem-solving"</a:t>
            </a:r>
          </a:p>
          <a:p/>
          <a:p>
            <a:r>
              <a:t>WHAT TO SAY - IMPACT SUMMARY (30-45 seconds):</a:t>
            </a:r>
          </a:p>
          <a:p>
            <a:r>
              <a:t>"Let me summarize the impact of this automation."</a:t>
            </a:r>
          </a:p>
          <a:p>
            <a:r>
              <a:t>- "We've achieved 95% time reduction - from 2-3 hours down to 5 minutes"</a:t>
            </a:r>
          </a:p>
          <a:p>
            <a:r>
              <a:t>- "15 comprehensive scenarios running automatically"</a:t>
            </a:r>
          </a:p>
          <a:p>
            <a:r>
              <a:t>- "Testing across 3 languages with zero additional effort"</a:t>
            </a:r>
          </a:p>
          <a:p>
            <a:r>
              <a:t>- "Eliminated manual testing errors completely"</a:t>
            </a:r>
          </a:p>
          <a:p>
            <a:r>
              <a:t>- "We now have fast, reliable, repeatable tests"</a:t>
            </a:r>
          </a:p>
          <a:p/>
          <a:p>
            <a:r>
              <a:t>CONCLUSION (30 seconds):</a:t>
            </a:r>
          </a:p>
          <a:p>
            <a:r>
              <a:t>"The result is clear - we can release faster with higher confidence in quality"</a:t>
            </a:r>
          </a:p>
          <a:p>
            <a:r>
              <a:t>"Our QA team is happier because they're doing more interesting work"</a:t>
            </a:r>
          </a:p>
          <a:p>
            <a:r>
              <a:t>"Our developers catch issues earlier in the development cycle"</a:t>
            </a:r>
          </a:p>
          <a:p>
            <a:r>
              <a:t>"And our end users - across English, French, and Portuguese speaking regions - get a more reliable product"</a:t>
            </a:r>
          </a:p>
          <a:p/>
          <a:p>
            <a:r>
              <a:t>CLOSING:</a:t>
            </a:r>
          </a:p>
          <a:p>
            <a:r>
              <a:t>"This framework represents the future of our testing strategy - automated, intelligent, and continuously improving"</a:t>
            </a:r>
          </a:p>
          <a:p>
            <a:r>
              <a:t>"Thank you for your time. I'm happy to take any questions."</a:t>
            </a:r>
          </a:p>
          <a:p/>
          <a:p>
            <a:r>
              <a:t>ANTICIPATED QUESTIONS &amp; ANSWERS:</a:t>
            </a:r>
          </a:p>
          <a:p>
            <a:r>
              <a:t>Q: How long did it take to build the framework?</a:t>
            </a:r>
          </a:p>
          <a:p>
            <a:r>
              <a:t>A: "Approximately 3-4 days of active development with Claude AI's assistance, compared to 2-3 weeks if built traditionally"</a:t>
            </a:r>
          </a:p>
          <a:p/>
          <a:p>
            <a:r>
              <a:t>Q: Can this be extended to other services?</a:t>
            </a:r>
          </a:p>
          <a:p>
            <a:r>
              <a:t>A: "Absolutely. The framework is modular - we can add new test modules and payloads easily. We're planning to extend it to other microservices"</a:t>
            </a:r>
          </a:p>
          <a:p/>
          <a:p>
            <a:r>
              <a:t>Q: What's the maintenance overhead?</a:t>
            </a:r>
          </a:p>
          <a:p>
            <a:r>
              <a:t>A: "Very low. When APIs change, we just update the JSON payloads. The framework itself is stable and well-structured"</a:t>
            </a:r>
          </a:p>
          <a:p/>
          <a:p>
            <a:r>
              <a:t>Q: How do you handle test data cleanup?</a:t>
            </a:r>
          </a:p>
          <a:p>
            <a:r>
              <a:t>A: "Each test run generates unique IDs, so data doesn't collide. We can also add cleanup scripts if needed"</a:t>
            </a:r>
          </a:p>
          <a:p/>
          <a:p>
            <a:r>
              <a:t>Q: Can non-technical people use this?</a:t>
            </a:r>
          </a:p>
          <a:p>
            <a:r>
              <a:t>A: "They can view the reports and understand results. Writing new tests requires Python knowledge, but modifying test data in JSON files is accessible"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2286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API Automation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Boundary Management &amp; Localization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Challenges Before Automation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ED7D31"/>
                </a:solidFill>
              </a:defRPr>
            </a:pPr>
            <a:r>
              <a:t>⏱️ Time-Consuming Manual Testing</a:t>
            </a:r>
          </a:p>
          <a:p>
            <a:pPr>
              <a:spcAft>
                <a:spcPts val="400"/>
              </a:spcAft>
              <a:defRPr sz="1600"/>
            </a:pPr>
            <a:r>
              <a:t>• 15 test scenarios executed manually = 2-3 hours per test cycle</a:t>
            </a:r>
          </a:p>
          <a:p>
            <a:pPr>
              <a:defRPr sz="1600"/>
            </a:pPr>
            <a:r>
              <a:t>• Testing across 3 languages (English, French, Portuguese) = triple effort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ED7D31"/>
                </a:solidFill>
              </a:defRPr>
            </a:pPr>
            <a:r>
              <a:t>❌ Human Error &amp; Inconsistency</a:t>
            </a:r>
          </a:p>
          <a:p>
            <a:pPr>
              <a:spcAft>
                <a:spcPts val="400"/>
              </a:spcAft>
              <a:defRPr sz="1600"/>
            </a:pPr>
            <a:r>
              <a:t>• Manual data entry mistakes in Excel templates</a:t>
            </a:r>
          </a:p>
          <a:p>
            <a:pPr>
              <a:defRPr sz="1600"/>
            </a:pPr>
            <a:r>
              <a:t>• Missed test steps or incomplete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ED7D31"/>
                </a:solidFill>
              </a:defRPr>
            </a:pPr>
            <a:r>
              <a:t>📊 Poor Test Coverage &amp; Reporting</a:t>
            </a:r>
          </a:p>
          <a:p>
            <a:pPr>
              <a:spcAft>
                <a:spcPts val="400"/>
              </a:spcAft>
              <a:defRPr sz="1600"/>
            </a:pPr>
            <a:r>
              <a:t>• No systematic regression testing - only critical paths tested</a:t>
            </a:r>
          </a:p>
          <a:p>
            <a:pPr>
              <a:defRPr sz="1600"/>
            </a:pPr>
            <a:r>
              <a:t>• Limited visibility into test results and trends</a:t>
            </a:r>
          </a:p>
          <a:p>
            <a:pPr>
              <a:defRPr sz="1600"/>
            </a:pPr>
            <a:r>
              <a:t>• Difficult to track issues across complex multi-step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2400" b="1">
                <a:solidFill>
                  <a:srgbClr val="ED7D31"/>
                </a:solidFill>
              </a:defRPr>
            </a:pPr>
            <a:r>
              <a:t>🔄 No Test Data Management</a:t>
            </a:r>
          </a:p>
          <a:p>
            <a:pPr>
              <a:defRPr sz="1600"/>
            </a:pPr>
            <a:r>
              <a:t>• Test data conflicts when multiple testers work simultaneously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F4E79"/>
                </a:solidFill>
              </a:defRPr>
            </a:pPr>
            <a:r>
              <a:t>Automated Functionalities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600" b="1">
                <a:solidFill>
                  <a:srgbClr val="4472C4"/>
                </a:solidFill>
              </a:defRPr>
            </a:pPr>
            <a:r>
              <a:t>✅ What We Automated</a:t>
            </a:r>
          </a:p>
          <a:p>
            <a:pPr>
              <a:spcAft>
                <a:spcPts val="600"/>
              </a:spcAft>
              <a:defRPr sz="1600" b="1">
                <a:solidFill>
                  <a:srgbClr val="404040"/>
                </a:solidFill>
              </a:defRPr>
            </a:pPr>
            <a:r>
              <a:t>End-to-End Workflow (15 Tests)</a:t>
            </a:r>
          </a:p>
          <a:p>
            <a:pPr lvl="1">
              <a:spcAft>
                <a:spcPts val="300"/>
              </a:spcAft>
              <a:defRPr sz="1300"/>
            </a:pPr>
            <a:r>
              <a:t> Boundary hierarchy creation (7-level structure)</a:t>
            </a:r>
          </a:p>
          <a:p>
            <a:pPr lvl="1">
              <a:spcAft>
                <a:spcPts val="300"/>
              </a:spcAft>
              <a:defRPr sz="1300"/>
            </a:pPr>
            <a:r>
              <a:t> Multi-language localization (3 languages)</a:t>
            </a:r>
          </a:p>
          <a:p>
            <a:pPr lvl="1">
              <a:spcAft>
                <a:spcPts val="300"/>
              </a:spcAft>
              <a:defRPr sz="1300"/>
            </a:pPr>
            <a:r>
              <a:t> File operations (generate, download, upload)</a:t>
            </a:r>
          </a:p>
          <a:p>
            <a:pPr lvl="1">
              <a:spcAft>
                <a:spcPts val="300"/>
              </a:spcAft>
              <a:defRPr sz="1300"/>
            </a:pPr>
            <a:r>
              <a:t> Data processing &amp; validation</a:t>
            </a:r>
          </a:p>
          <a:p>
            <a:pPr lvl="1">
              <a:spcAft>
                <a:spcPts val="300"/>
              </a:spcAft>
              <a:defRPr sz="1300"/>
            </a:pPr>
            <a:r>
              <a:t> Relationship &amp; search queries</a:t>
            </a:r>
          </a:p>
          <a:p>
            <a:pPr>
              <a:defRPr sz="600"/>
            </a:pPr>
          </a:p>
          <a:p>
            <a:pPr>
              <a:spcAft>
                <a:spcPts val="600"/>
              </a:spcAft>
              <a:defRPr sz="1600" b="1">
                <a:solidFill>
                  <a:srgbClr val="404040"/>
                </a:solidFill>
              </a:defRPr>
            </a:pPr>
            <a:r>
              <a:t>Framework Features</a:t>
            </a:r>
          </a:p>
          <a:p>
            <a:pPr lvl="1">
              <a:spcAft>
                <a:spcPts val="300"/>
              </a:spcAft>
              <a:defRPr sz="1300"/>
            </a:pPr>
            <a:r>
              <a:t> Data-driven testing with JSON payloads</a:t>
            </a:r>
          </a:p>
          <a:p>
            <a:pPr lvl="1">
              <a:spcAft>
                <a:spcPts val="300"/>
              </a:spcAft>
              <a:defRPr sz="1300"/>
            </a:pPr>
            <a:r>
              <a:t> Smart polling for async operations</a:t>
            </a:r>
          </a:p>
          <a:p>
            <a:pPr lvl="1">
              <a:spcAft>
                <a:spcPts val="300"/>
              </a:spcAft>
              <a:defRPr sz="1300"/>
            </a:pPr>
            <a:r>
              <a:t> Cross-test data persistence (IDs tracking)</a:t>
            </a:r>
          </a:p>
          <a:p>
            <a:pPr lvl="1">
              <a:spcAft>
                <a:spcPts val="300"/>
              </a:spcAft>
              <a:defRPr sz="1300"/>
            </a:pPr>
            <a:r>
              <a:t> OAuth2 authentication</a:t>
            </a:r>
          </a:p>
          <a:p>
            <a:pPr lvl="1">
              <a:spcAft>
                <a:spcPts val="300"/>
              </a:spcAft>
              <a:defRPr sz="1300"/>
            </a:pPr>
            <a:r>
              <a:t> Dynamic unique test data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600" b="1">
                <a:solidFill>
                  <a:srgbClr val="4472C4"/>
                </a:solidFill>
              </a:defRPr>
            </a:pPr>
            <a:r>
              <a:t>📈 Key Benefits</a:t>
            </a:r>
          </a:p>
          <a:p>
            <a:pPr>
              <a:spcAft>
                <a:spcPts val="200"/>
              </a:spcAft>
              <a:defRPr sz="1500" b="1">
                <a:solidFill>
                  <a:srgbClr val="ED7D31"/>
                </a:solidFill>
              </a:defRPr>
            </a:pPr>
            <a:r>
              <a:t>⚡ 95% Time Savings</a:t>
            </a:r>
          </a:p>
          <a:p>
            <a:pPr lvl="1">
              <a:spcAft>
                <a:spcPts val="800"/>
              </a:spcAft>
              <a:defRPr sz="1200"/>
            </a:pPr>
            <a:r>
              <a:t>2-3 hours → 5 minutes</a:t>
            </a:r>
          </a:p>
          <a:p>
            <a:pPr>
              <a:spcAft>
                <a:spcPts val="200"/>
              </a:spcAft>
              <a:defRPr sz="1500" b="1">
                <a:solidFill>
                  <a:srgbClr val="ED7D31"/>
                </a:solidFill>
              </a:defRPr>
            </a:pPr>
            <a:r>
              <a:t>🎯 100% Consistency</a:t>
            </a:r>
          </a:p>
          <a:p>
            <a:pPr lvl="1">
              <a:spcAft>
                <a:spcPts val="800"/>
              </a:spcAft>
              <a:defRPr sz="1200"/>
            </a:pPr>
            <a:r>
              <a:t>Zero human error, repeatable</a:t>
            </a:r>
          </a:p>
          <a:p>
            <a:pPr>
              <a:spcAft>
                <a:spcPts val="200"/>
              </a:spcAft>
              <a:defRPr sz="1500" b="1">
                <a:solidFill>
                  <a:srgbClr val="ED7D31"/>
                </a:solidFill>
              </a:defRPr>
            </a:pPr>
            <a:r>
              <a:t>📊 Enhanced Reporting</a:t>
            </a:r>
          </a:p>
          <a:p>
            <a:pPr lvl="1">
              <a:spcAft>
                <a:spcPts val="800"/>
              </a:spcAft>
              <a:defRPr sz="1200"/>
            </a:pPr>
            <a:r>
              <a:t>HTML + Allure + detailed logs</a:t>
            </a:r>
          </a:p>
          <a:p>
            <a:pPr>
              <a:spcAft>
                <a:spcPts val="200"/>
              </a:spcAft>
              <a:defRPr sz="1500" b="1">
                <a:solidFill>
                  <a:srgbClr val="ED7D31"/>
                </a:solidFill>
              </a:defRPr>
            </a:pPr>
            <a:r>
              <a:t>🌍 Multi-language</a:t>
            </a:r>
          </a:p>
          <a:p>
            <a:pPr lvl="1">
              <a:spcAft>
                <a:spcPts val="800"/>
              </a:spcAft>
              <a:defRPr sz="1200"/>
            </a:pPr>
            <a:r>
              <a:t>3 locales tested automatically</a:t>
            </a:r>
          </a:p>
          <a:p>
            <a:pPr>
              <a:spcAft>
                <a:spcPts val="200"/>
              </a:spcAft>
              <a:defRPr sz="1500" b="1">
                <a:solidFill>
                  <a:srgbClr val="ED7D31"/>
                </a:solidFill>
              </a:defRPr>
            </a:pPr>
            <a:r>
              <a:t>🔄 Continuous Testing</a:t>
            </a:r>
          </a:p>
          <a:p>
            <a:pPr lvl="1">
              <a:spcAft>
                <a:spcPts val="800"/>
              </a:spcAft>
              <a:defRPr sz="1200"/>
            </a:pPr>
            <a:r>
              <a:t>Run on every code change</a:t>
            </a:r>
          </a:p>
          <a:p>
            <a:pPr>
              <a:spcAft>
                <a:spcPts val="200"/>
              </a:spcAft>
              <a:defRPr sz="1500" b="1">
                <a:solidFill>
                  <a:srgbClr val="ED7D31"/>
                </a:solidFill>
              </a:defRPr>
            </a:pPr>
            <a:r>
              <a:t>📈 Better Coverage</a:t>
            </a:r>
          </a:p>
          <a:p>
            <a:pPr lvl="1">
              <a:spcAft>
                <a:spcPts val="800"/>
              </a:spcAft>
              <a:defRPr sz="1200"/>
            </a:pPr>
            <a:r>
              <a:t>All 15 scenarios + edge cases</a:t>
            </a:r>
          </a:p>
          <a:p>
            <a:pPr>
              <a:spcAft>
                <a:spcPts val="200"/>
              </a:spcAft>
              <a:defRPr sz="1500" b="1">
                <a:solidFill>
                  <a:srgbClr val="ED7D31"/>
                </a:solidFill>
              </a:defRPr>
            </a:pPr>
            <a:r>
              <a:t>🔍 Early Bug Detection</a:t>
            </a:r>
          </a:p>
          <a:p>
            <a:pPr lvl="1">
              <a:spcAft>
                <a:spcPts val="800"/>
              </a:spcAft>
              <a:defRPr sz="1200"/>
            </a:pPr>
            <a:r>
              <a:t>Issues caught before production</a:t>
            </a:r>
          </a:p>
          <a:p>
            <a:pPr>
              <a:spcAft>
                <a:spcPts val="200"/>
              </a:spcAft>
              <a:defRPr sz="1500" b="1">
                <a:solidFill>
                  <a:srgbClr val="ED7D31"/>
                </a:solidFill>
              </a:defRPr>
            </a:pPr>
            <a:r>
              <a:t>👥 Team Productivity</a:t>
            </a:r>
          </a:p>
          <a:p>
            <a:pPr lvl="1">
              <a:spcAft>
                <a:spcPts val="800"/>
              </a:spcAft>
              <a:defRPr sz="1200"/>
            </a:pPr>
            <a:r>
              <a:t>QA focuses on exploratory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Claude AI: Accelerating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 b="1">
                <a:solidFill>
                  <a:srgbClr val="4472C4"/>
                </a:solidFill>
              </a:defRPr>
            </a:pPr>
            <a:r>
              <a:t>🤖 How Claude AI Helped</a:t>
            </a:r>
          </a:p>
          <a:p>
            <a:pPr>
              <a:spcAft>
                <a:spcPts val="400"/>
              </a:spcAft>
              <a:defRPr sz="1600" b="1">
                <a:solidFill>
                  <a:srgbClr val="ED7D31"/>
                </a:solidFill>
              </a:defRPr>
            </a:pPr>
            <a:r>
              <a:t>⚡ Rapid Framework Development</a:t>
            </a:r>
          </a:p>
          <a:p>
            <a:pPr lvl="1">
              <a:spcAft>
                <a:spcPts val="1000"/>
              </a:spcAft>
              <a:defRPr sz="1300"/>
            </a:pPr>
            <a:r>
              <a:t>Built complete framework in days vs. weeks - AI generated boilerplate code, utilities, and test structure</a:t>
            </a:r>
          </a:p>
          <a:p>
            <a:pPr>
              <a:spcAft>
                <a:spcPts val="400"/>
              </a:spcAft>
              <a:defRPr sz="1600" b="1">
                <a:solidFill>
                  <a:srgbClr val="ED7D31"/>
                </a:solidFill>
              </a:defRPr>
            </a:pPr>
            <a:r>
              <a:t>🧠 Intelligent Code Generation</a:t>
            </a:r>
          </a:p>
          <a:p>
            <a:pPr lvl="1">
              <a:spcAft>
                <a:spcPts val="1000"/>
              </a:spcAft>
              <a:defRPr sz="1300"/>
            </a:pPr>
            <a:r>
              <a:t>Created data loaders, API clients, authentication modules with best practices built-in</a:t>
            </a:r>
          </a:p>
          <a:p>
            <a:pPr>
              <a:spcAft>
                <a:spcPts val="400"/>
              </a:spcAft>
              <a:defRPr sz="1600" b="1">
                <a:solidFill>
                  <a:srgbClr val="ED7D31"/>
                </a:solidFill>
              </a:defRPr>
            </a:pPr>
            <a:r>
              <a:t>🔧 Complex Logic Handling</a:t>
            </a:r>
          </a:p>
          <a:p>
            <a:pPr lvl="1">
              <a:spcAft>
                <a:spcPts val="1000"/>
              </a:spcAft>
              <a:defRPr sz="1300"/>
            </a:pPr>
            <a:r>
              <a:t>AI helped implement smart polling, file operations, and cross-test data persistence</a:t>
            </a:r>
          </a:p>
          <a:p>
            <a:pPr>
              <a:spcAft>
                <a:spcPts val="400"/>
              </a:spcAft>
              <a:defRPr sz="1600" b="1">
                <a:solidFill>
                  <a:srgbClr val="ED7D31"/>
                </a:solidFill>
              </a:defRPr>
            </a:pPr>
            <a:r>
              <a:t>📚 Learning Accelerator</a:t>
            </a:r>
          </a:p>
          <a:p>
            <a:pPr lvl="1">
              <a:spcAft>
                <a:spcPts val="1000"/>
              </a:spcAft>
              <a:defRPr sz="1300"/>
            </a:pPr>
            <a:r>
              <a:t>Explained pytest features, Allure integration, and Python best practices on-demand</a:t>
            </a:r>
          </a:p>
          <a:p>
            <a:pPr>
              <a:spcAft>
                <a:spcPts val="400"/>
              </a:spcAft>
              <a:defRPr sz="1600" b="1">
                <a:solidFill>
                  <a:srgbClr val="ED7D31"/>
                </a:solidFill>
              </a:defRPr>
            </a:pPr>
            <a:r>
              <a:t>🐛 Debugging Partner</a:t>
            </a:r>
          </a:p>
          <a:p>
            <a:pPr lvl="1">
              <a:spcAft>
                <a:spcPts val="1000"/>
              </a:spcAft>
              <a:defRPr sz="1300"/>
            </a:pPr>
            <a:r>
              <a:t>Quickly identified issues, suggested fixes, and optimized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600" b="1">
                <a:solidFill>
                  <a:srgbClr val="4472C4"/>
                </a:solidFill>
              </a:defRPr>
            </a:pPr>
            <a:r>
              <a:t>📊 Impact Summary</a:t>
            </a:r>
          </a:p>
          <a:p>
            <a:pPr algn="ctr">
              <a:defRPr sz="1400" b="1">
                <a:solidFill>
                  <a:srgbClr val="404040"/>
                </a:solidFill>
              </a:defRPr>
            </a:pPr>
            <a:r>
              <a:t>⏱️ 95% time reduction  |  🎯 15 automated scenarios  |  🌍 3 languages  |  📈 Zero manual errors  |  🚀 5-minute test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9436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200" b="1">
                <a:solidFill>
                  <a:srgbClr val="4472C4"/>
                </a:solidFill>
              </a:defRPr>
            </a:pPr>
            <a:r>
              <a:t>Result: Faster releases, higher quality, happier team 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